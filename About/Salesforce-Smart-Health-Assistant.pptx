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4630400" cy="8229600"/>
  <p:notesSz cx="8229600" cy="14630400"/>
  <p:embeddedFontLst>
    <p:embeddedFont>
      <p:font typeface="Barlow"/>
      <p:regular r:id="rId19"/>
    </p:embeddedFont>
    <p:embeddedFont>
      <p:font typeface="Barlow"/>
      <p:regular r:id="rId20"/>
    </p:embeddedFont>
    <p:embeddedFont>
      <p:font typeface="Barlow"/>
      <p:regular r:id="rId21"/>
    </p:embeddedFont>
    <p:embeddedFont>
      <p:font typeface="Barlow"/>
      <p:regular r:id="rId22"/>
    </p:embeddedFont>
    <p:embeddedFont>
      <p:font typeface="Montserrat"/>
      <p:regular r:id="rId23"/>
    </p:embeddedFont>
    <p:embeddedFont>
      <p:font typeface="Montserrat"/>
      <p:regular r:id="rId24"/>
    </p:embeddedFont>
    <p:embeddedFont>
      <p:font typeface="Montserrat"/>
      <p:regular r:id="rId25"/>
    </p:embeddedFont>
    <p:embeddedFont>
      <p:font typeface="Montserrat"/>
      <p:regular r:id="rId2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Relationship Id="rId22" Type="http://schemas.openxmlformats.org/officeDocument/2006/relationships/font" Target="fonts/font4.fntdata"/><Relationship Id="rId23" Type="http://schemas.openxmlformats.org/officeDocument/2006/relationships/font" Target="fonts/font5.fntdata"/><Relationship Id="rId24" Type="http://schemas.openxmlformats.org/officeDocument/2006/relationships/font" Target="fonts/font6.fntdata"/><Relationship Id="rId25" Type="http://schemas.openxmlformats.org/officeDocument/2006/relationships/font" Target="fonts/font7.fntdata"/><Relationship Id="rId26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3E0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3E0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3E0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3E0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3E0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3E0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3E0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3E0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3E0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3E0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3E0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3E0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0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2376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Salesforce Smart Health Assistant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238148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B05EF1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Continuous Glucose Monitoring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6280190" y="413920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Intelligent patient support with Agentforce and Data Cloud.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475726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Streamlined glucose data analysis enables proactive care.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80190" y="537531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Empowering patients and providers through real-time insights.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62376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The Challenge: Reactive Diabetes Management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381488"/>
            <a:ext cx="3664863" cy="2047994"/>
          </a:xfrm>
          <a:prstGeom prst="roundRect">
            <a:avLst>
              <a:gd name="adj" fmla="val 16613"/>
            </a:avLst>
          </a:prstGeom>
          <a:solidFill>
            <a:srgbClr val="F2EEEE"/>
          </a:solidFill>
          <a:ln w="7620">
            <a:solidFill>
              <a:srgbClr val="D8D4D4"/>
            </a:solidFill>
            <a:prstDash val="solid"/>
          </a:ln>
          <a:effectLst>
            <a:outerShdw sx="100000" sy="100000" kx="0" ky="0" algn="bl" rotWithShape="0" blurRad="0" dist="20320" dir="2700000">
              <a:srgbClr val="d8d4d4">
                <a:alpha val="10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1028224" y="2615922"/>
            <a:ext cx="283940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Traditional Limitations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8224" y="3106341"/>
            <a:ext cx="31959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Scheduled visits delay critical diabetes management.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467" y="2381488"/>
            <a:ext cx="3664863" cy="2047994"/>
          </a:xfrm>
          <a:prstGeom prst="roundRect">
            <a:avLst>
              <a:gd name="adj" fmla="val 16613"/>
            </a:avLst>
          </a:prstGeom>
          <a:solidFill>
            <a:srgbClr val="F2EEEE"/>
          </a:solidFill>
          <a:ln w="7620">
            <a:solidFill>
              <a:srgbClr val="D8D4D4"/>
            </a:solidFill>
            <a:prstDash val="solid"/>
          </a:ln>
          <a:effectLst>
            <a:outerShdw sx="100000" sy="100000" kx="0" ky="0" algn="bl" rotWithShape="0" blurRad="0" dist="20320" dir="2700000">
              <a:srgbClr val="d8d4d4">
                <a:alpha val="10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919901" y="26159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Patient Struggles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19901" y="3106341"/>
            <a:ext cx="31959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Self-management is often inconsistent and challenging.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4656296"/>
            <a:ext cx="7556421" cy="1322189"/>
          </a:xfrm>
          <a:prstGeom prst="roundRect">
            <a:avLst>
              <a:gd name="adj" fmla="val 25733"/>
            </a:avLst>
          </a:prstGeom>
          <a:solidFill>
            <a:srgbClr val="F2EEEE"/>
          </a:solidFill>
          <a:ln w="7620">
            <a:solidFill>
              <a:srgbClr val="D8D4D4"/>
            </a:solidFill>
            <a:prstDash val="solid"/>
          </a:ln>
          <a:effectLst>
            <a:outerShdw sx="100000" sy="100000" kx="0" ky="0" algn="bl" rotWithShape="0" blurRad="0" dist="20320" dir="2700000">
              <a:srgbClr val="d8d4d4">
                <a:alpha val="10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028224" y="48907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Cost Implications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8224" y="5381149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Emergency care costs reach $327B annually in US.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2376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Solution: Smart Health Assistant Overview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381488"/>
            <a:ext cx="510302" cy="510302"/>
          </a:xfrm>
          <a:prstGeom prst="roundRect">
            <a:avLst>
              <a:gd name="adj" fmla="val 66675"/>
            </a:avLst>
          </a:prstGeom>
          <a:solidFill>
            <a:srgbClr val="F2EEEE"/>
          </a:solidFill>
          <a:ln w="7620">
            <a:solidFill>
              <a:srgbClr val="D8D4D4"/>
            </a:solidFill>
            <a:prstDash val="solid"/>
          </a:ln>
          <a:effectLst>
            <a:outerShdw sx="100000" sy="100000" kx="0" ky="0" algn="bl" rotWithShape="0" blurRad="0" dist="20320" dir="2700000">
              <a:srgbClr val="d8d4d4">
                <a:alpha val="10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017306" y="24593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Integrated Platform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017306" y="2949773"/>
            <a:ext cx="289941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Combines Agentforce AI bot with Data Cloud analytics.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200203" y="2381488"/>
            <a:ext cx="510302" cy="510302"/>
          </a:xfrm>
          <a:prstGeom prst="roundRect">
            <a:avLst>
              <a:gd name="adj" fmla="val 66675"/>
            </a:avLst>
          </a:prstGeom>
          <a:solidFill>
            <a:srgbClr val="F2EEEE"/>
          </a:solidFill>
          <a:ln w="7620">
            <a:solidFill>
              <a:srgbClr val="D8D4D4"/>
            </a:solidFill>
            <a:prstDash val="solid"/>
          </a:ln>
          <a:effectLst>
            <a:outerShdw sx="100000" sy="100000" kx="0" ky="0" algn="bl" rotWithShape="0" blurRad="0" dist="20320" dir="2700000">
              <a:srgbClr val="d8d4d4">
                <a:alpha val="10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0937319" y="24593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Proactive Monitoring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937319" y="2949773"/>
            <a:ext cx="28994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Real-time glucose data drives risk assessment.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4492109"/>
            <a:ext cx="510302" cy="510302"/>
          </a:xfrm>
          <a:prstGeom prst="roundRect">
            <a:avLst>
              <a:gd name="adj" fmla="val 66675"/>
            </a:avLst>
          </a:prstGeom>
          <a:solidFill>
            <a:srgbClr val="F2EEEE"/>
          </a:solidFill>
          <a:ln w="7620">
            <a:solidFill>
              <a:srgbClr val="D8D4D4"/>
            </a:solidFill>
            <a:prstDash val="solid"/>
          </a:ln>
          <a:effectLst>
            <a:outerShdw sx="100000" sy="100000" kx="0" ky="0" algn="bl" rotWithShape="0" blurRad="0" dist="20320" dir="2700000">
              <a:srgbClr val="d8d4d4">
                <a:alpha val="10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017306" y="45699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Patient Engagement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017306" y="5060394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Automated alerts and personalized advice improve outcomes.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8670" y="619720"/>
            <a:ext cx="10659308" cy="563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Workflow: From Patient Inquiry to Actionable Insights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670" y="1543645"/>
            <a:ext cx="2475428" cy="15298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88670" y="3298746"/>
            <a:ext cx="2428875" cy="28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Patient Initiates Contact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88670" y="3688556"/>
            <a:ext cx="3094315" cy="576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Engages via chat or voice assistant.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8252" y="1543645"/>
            <a:ext cx="2475428" cy="152983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08252" y="3298746"/>
            <a:ext cx="3012043" cy="28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Bot Identifies Intent &amp; Verifies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4108252" y="3688556"/>
            <a:ext cx="3094315" cy="576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Confirms glucose request through ID validation.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7833" y="1543645"/>
            <a:ext cx="2475428" cy="152983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27833" y="3298746"/>
            <a:ext cx="2403396" cy="28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Retrieve Real-Time Data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7427833" y="3688556"/>
            <a:ext cx="3094315" cy="576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Connected device sends current glucose metrics.</a:t>
            </a:r>
            <a:endParaRPr lang="en-US" sz="1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7415" y="1543645"/>
            <a:ext cx="2475428" cy="152983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747415" y="3298746"/>
            <a:ext cx="2573893" cy="28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Compare With Thresholds</a:t>
            </a:r>
            <a:endParaRPr lang="en-US" sz="1750" dirty="0"/>
          </a:p>
        </p:txBody>
      </p:sp>
      <p:sp>
        <p:nvSpPr>
          <p:cNvPr id="14" name="Text 8"/>
          <p:cNvSpPr/>
          <p:nvPr/>
        </p:nvSpPr>
        <p:spPr>
          <a:xfrm>
            <a:off x="10747415" y="3688556"/>
            <a:ext cx="3094315" cy="865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Cloud analyzes measurements against personalized values.</a:t>
            </a:r>
            <a:endParaRPr lang="en-US" sz="14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670" y="4914186"/>
            <a:ext cx="2475428" cy="152983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88670" y="6669286"/>
            <a:ext cx="2868097" cy="28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Determine Risk &amp; Next Steps</a:t>
            </a:r>
            <a:endParaRPr lang="en-US" sz="1750" dirty="0"/>
          </a:p>
        </p:txBody>
      </p:sp>
      <p:sp>
        <p:nvSpPr>
          <p:cNvPr id="17" name="Text 10"/>
          <p:cNvSpPr/>
          <p:nvPr/>
        </p:nvSpPr>
        <p:spPr>
          <a:xfrm>
            <a:off x="788670" y="7059097"/>
            <a:ext cx="3094315" cy="576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classifies risk and suggests actions.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2376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Usecase Lifecycle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1927860"/>
            <a:ext cx="6141363" cy="41233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630638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9521" y="1927860"/>
            <a:ext cx="6242804" cy="407931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599521" y="626233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793790" y="712851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9425" y="623768"/>
            <a:ext cx="10491430" cy="580953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677346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endParaRPr lang="en-US" sz="4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9425" y="623768"/>
            <a:ext cx="10491430" cy="580953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677346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endParaRPr lang="en-US" sz="4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23768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Key Components: Agentforce and Data Cloud Connectors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494955"/>
            <a:ext cx="4158615" cy="25702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53486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Agentforce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5839063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AI-driven chatbot providing real-time patient engagement.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893" y="2494955"/>
            <a:ext cx="4158615" cy="257020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893" y="5348645"/>
            <a:ext cx="296382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Data Cloud (Databricks)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35893" y="5839063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Centralized platform for patient data ingestion and analysis.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995" y="2494955"/>
            <a:ext cx="4158615" cy="257020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995" y="5348645"/>
            <a:ext cx="285214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Security &amp; Compliance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77995" y="5839063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Protecting patient information with stringent regulatory standards.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23768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Data Cloud Deep Dive: Personalized Thresholds and Risk Assessment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494955"/>
            <a:ext cx="4158615" cy="25702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53486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High Risk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5839063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Glucose &gt; 250 mg/dL or &lt; 70 mg/dL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893" y="2494955"/>
            <a:ext cx="4158615" cy="257020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893" y="53486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Moderate Risk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35893" y="5839063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Glucose between 200-250 or 70-80 mg/dL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995" y="2494955"/>
            <a:ext cx="4158615" cy="257020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995" y="53486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Severity Levels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77995" y="5839063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Mild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9677995" y="6281261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Moderate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9677995" y="6723459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Severe</a:t>
            </a:r>
            <a:endParaRPr lang="en-US" sz="1750" dirty="0"/>
          </a:p>
        </p:txBody>
      </p:sp>
      <p:sp>
        <p:nvSpPr>
          <p:cNvPr id="14" name="Text 9"/>
          <p:cNvSpPr/>
          <p:nvPr/>
        </p:nvSpPr>
        <p:spPr>
          <a:xfrm>
            <a:off x="9677995" y="7165657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Critical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976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459004"/>
            <a:ext cx="878419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Actionable Insights and Next Steps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5528667"/>
            <a:ext cx="3005495" cy="226814"/>
          </a:xfrm>
          <a:prstGeom prst="roundRect">
            <a:avLst>
              <a:gd name="adj" fmla="val 150009"/>
            </a:avLst>
          </a:prstGeom>
          <a:solidFill>
            <a:srgbClr val="F2EEEE"/>
          </a:solidFill>
          <a:ln w="7620">
            <a:solidFill>
              <a:srgbClr val="D8D4D4"/>
            </a:solidFill>
            <a:prstDash val="solid"/>
          </a:ln>
          <a:effectLst>
            <a:outerShdw sx="100000" sy="100000" kx="0" ky="0" algn="bl" rotWithShape="0" blurRad="0" dist="20320" dir="2700000">
              <a:srgbClr val="d8d4d4">
                <a:alpha val="10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93790" y="60956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High Risk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586061"/>
            <a:ext cx="30054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Recommend immediate medical attention.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139446" y="5188387"/>
            <a:ext cx="3005614" cy="226814"/>
          </a:xfrm>
          <a:prstGeom prst="roundRect">
            <a:avLst>
              <a:gd name="adj" fmla="val 150009"/>
            </a:avLst>
          </a:prstGeom>
          <a:solidFill>
            <a:srgbClr val="F2EEEE"/>
          </a:solidFill>
          <a:ln w="7620">
            <a:solidFill>
              <a:srgbClr val="D8D4D4"/>
            </a:solidFill>
            <a:prstDash val="solid"/>
          </a:ln>
          <a:effectLst>
            <a:outerShdw sx="100000" sy="100000" kx="0" ky="0" algn="bl" rotWithShape="0" blurRad="0" dist="20320" dir="2700000">
              <a:srgbClr val="d8d4d4">
                <a:alpha val="10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139446" y="57553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Moderate Risk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139446" y="6245781"/>
            <a:ext cx="300561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Suggest lifestyle changes and medication reminders.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485221" y="4848106"/>
            <a:ext cx="3005614" cy="226814"/>
          </a:xfrm>
          <a:prstGeom prst="roundRect">
            <a:avLst>
              <a:gd name="adj" fmla="val 150009"/>
            </a:avLst>
          </a:prstGeom>
          <a:solidFill>
            <a:srgbClr val="F2EEEE"/>
          </a:solidFill>
          <a:ln w="7620">
            <a:solidFill>
              <a:srgbClr val="D8D4D4"/>
            </a:solidFill>
            <a:prstDash val="solid"/>
          </a:ln>
          <a:effectLst>
            <a:outerShdw sx="100000" sy="100000" kx="0" ky="0" algn="bl" rotWithShape="0" blurRad="0" dist="20320" dir="2700000">
              <a:srgbClr val="d8d4d4">
                <a:alpha val="10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485221" y="54150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Low Risk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485221" y="5905500"/>
            <a:ext cx="300561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Provide positive reinforcement and ongoing monitoring.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10830997" y="4507944"/>
            <a:ext cx="3005614" cy="226814"/>
          </a:xfrm>
          <a:prstGeom prst="roundRect">
            <a:avLst>
              <a:gd name="adj" fmla="val 150009"/>
            </a:avLst>
          </a:prstGeom>
          <a:solidFill>
            <a:srgbClr val="F2EEEE"/>
          </a:solidFill>
          <a:ln w="7620">
            <a:solidFill>
              <a:srgbClr val="D8D4D4"/>
            </a:solidFill>
            <a:prstDash val="solid"/>
          </a:ln>
          <a:effectLst>
            <a:outerShdw sx="100000" sy="100000" kx="0" ky="0" algn="bl" rotWithShape="0" blurRad="0" dist="20320" dir="2700000">
              <a:srgbClr val="d8d4d4">
                <a:alpha val="10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10830997" y="50749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Care Coordination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0830997" y="5565338"/>
            <a:ext cx="300561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Integrate with Salesforce Health Cloud for seamless care.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62376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Benefits and ROI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1786057"/>
            <a:ext cx="3608070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15%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1180148" y="28178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Cost Savings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3308271"/>
            <a:ext cx="36080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Administrative burdens reduced by 15%.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742021" y="1786057"/>
            <a:ext cx="360818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327B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4999673" y="2817852"/>
            <a:ext cx="309276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US Emergency Care Cost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742021" y="3308271"/>
            <a:ext cx="3608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Potential reduction in $327 billion expenses.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93790" y="428922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Ensures better quality of life (QALY)</a:t>
            </a:r>
            <a:endParaRPr lang="en-US" sz="1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976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459004"/>
            <a:ext cx="1192922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Next Steps: Empowering Diabetes Management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4507944"/>
            <a:ext cx="510302" cy="510302"/>
          </a:xfrm>
          <a:prstGeom prst="roundRect">
            <a:avLst>
              <a:gd name="adj" fmla="val 66675"/>
            </a:avLst>
          </a:prstGeom>
          <a:solidFill>
            <a:srgbClr val="F2EEEE"/>
          </a:solidFill>
          <a:ln w="7620">
            <a:solidFill>
              <a:srgbClr val="D8D4D4"/>
            </a:solidFill>
            <a:prstDash val="solid"/>
          </a:ln>
          <a:effectLst>
            <a:outerShdw sx="100000" sy="100000" kx="0" ky="0" algn="bl" rotWithShape="0" blurRad="0" dist="20320" dir="2700000">
              <a:srgbClr val="d8d4d4">
                <a:alpha val="10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1530906" y="4585811"/>
            <a:ext cx="312050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Expand Patient Outreach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30906" y="5076230"/>
            <a:ext cx="56426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Leverage AI to support more patients actively.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457003" y="4507944"/>
            <a:ext cx="510302" cy="510302"/>
          </a:xfrm>
          <a:prstGeom prst="roundRect">
            <a:avLst>
              <a:gd name="adj" fmla="val 66675"/>
            </a:avLst>
          </a:prstGeom>
          <a:solidFill>
            <a:srgbClr val="F2EEEE"/>
          </a:solidFill>
          <a:ln w="7620">
            <a:solidFill>
              <a:srgbClr val="D8D4D4"/>
            </a:solidFill>
            <a:prstDash val="solid"/>
          </a:ln>
          <a:effectLst>
            <a:outerShdw sx="100000" sy="100000" kx="0" ky="0" algn="bl" rotWithShape="0" blurRad="0" dist="20320" dir="2700000">
              <a:srgbClr val="d8d4d4">
                <a:alpha val="10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194119" y="4585811"/>
            <a:ext cx="295667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Enhance Data Analytics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194119" y="5076230"/>
            <a:ext cx="56426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Refine thresholds and risk models continuously.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892760"/>
            <a:ext cx="510302" cy="510302"/>
          </a:xfrm>
          <a:prstGeom prst="roundRect">
            <a:avLst>
              <a:gd name="adj" fmla="val 66675"/>
            </a:avLst>
          </a:prstGeom>
          <a:solidFill>
            <a:srgbClr val="F2EEEE"/>
          </a:solidFill>
          <a:ln w="7620">
            <a:solidFill>
              <a:srgbClr val="D8D4D4"/>
            </a:solidFill>
            <a:prstDash val="solid"/>
          </a:ln>
          <a:effectLst>
            <a:outerShdw sx="100000" sy="100000" kx="0" ky="0" algn="bl" rotWithShape="0" blurRad="0" dist="20320" dir="2700000">
              <a:srgbClr val="d8d4d4">
                <a:alpha val="10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530906" y="59706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Integrate Care Teams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530906" y="6461046"/>
            <a:ext cx="56426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Streamline coordination through Health Cloud platforms.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7457003" y="5892760"/>
            <a:ext cx="510302" cy="510302"/>
          </a:xfrm>
          <a:prstGeom prst="roundRect">
            <a:avLst>
              <a:gd name="adj" fmla="val 66675"/>
            </a:avLst>
          </a:prstGeom>
          <a:solidFill>
            <a:srgbClr val="F2EEEE"/>
          </a:solidFill>
          <a:ln w="7620">
            <a:solidFill>
              <a:srgbClr val="D8D4D4"/>
            </a:solidFill>
            <a:prstDash val="solid"/>
          </a:ln>
          <a:effectLst>
            <a:outerShdw sx="100000" sy="100000" kx="0" ky="0" algn="bl" rotWithShape="0" blurRad="0" dist="20320" dir="2700000">
              <a:srgbClr val="d8d4d4">
                <a:alpha val="10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194119" y="59706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Focus on Education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8194119" y="6461046"/>
            <a:ext cx="56426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Empower patients with actionable glucose insights.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2025-04-30T13:09:20Z</dcterms:created>
  <dcterms:modified xsi:type="dcterms:W3CDTF">2025-04-30T13:09:20Z</dcterms:modified>
</cp:coreProperties>
</file>